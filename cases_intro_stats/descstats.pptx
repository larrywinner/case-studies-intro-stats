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2" r:id="rId6"/>
    <p:sldId id="266" r:id="rId7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17" d="100"/>
          <a:sy n="117" d="100"/>
        </p:scale>
        <p:origin x="624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CDAEF9-03FC-DEA7-5539-432D59B73F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BFEFBA-DA65-1CAA-9C5C-D2F4E5DA52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C268E9-1E57-5593-2426-E1BDB6128C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996BDB-F848-5F61-BAF6-8D7F8225BB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33C929-E89A-0E34-43ED-F6021504D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AE7A949-4D20-4083-A8D8-610E7018653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528658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BCBDDE-A4C1-0950-761C-9F3504381A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8EB9C0-CAF8-45EC-3F6B-47478053CA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082085-8E76-D988-642B-ED8AEDC203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9B3902-D804-1A8E-237B-0D21119B05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5EBBA8-A8DF-1FE3-D3B3-4F8EF6554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5168FDB-0723-467A-AC57-88400D5C5FB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386920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CCEE99-BF35-AAB8-3395-F48918BF6C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F5A06D-9605-07A6-8095-F49DCB4938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F2B4BF-2605-AE7E-2551-6A8B5800FE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6D07B5-EC44-832E-1E86-E5EF5A8F2C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A1EE0D-6426-28EE-6948-B5BB4B883E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2C3C5C2-48D6-483B-802D-6398955C518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432232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63B6CD-C3F4-7587-7597-0857B06ACF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19F0F2-E7F4-482B-AE84-FC8C7EAAD99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B3D6E2-1195-859C-4B0D-E529D3D2BE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8CDDB3-2BFA-AD61-8894-6986ED67CE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81F3B7-05B5-4E3A-AB7E-BB5DE390F9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D85156-835A-03B5-A332-6C4162763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5C3A4C-4863-4338-8FCA-F98484535AF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623356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7BB6BB-BCAD-96C3-B052-D6BA451354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D7DD2D-5BCD-CC98-68A4-A684A1C0E9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D3A636-E9D1-D0AE-E92C-265178979A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258D6BF-31FA-1DFA-980B-42A4022BA49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41EAEA3-93A0-5940-15AE-B6EBEA9ACE8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72DAC45-BCA7-4339-2DF1-175CDDD2D3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157F1A9-A549-D694-0EAF-5D96ECCB0A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AE6352D-778B-935F-4A89-6259447EFE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806C894-1F23-4ADC-8C48-507008536EB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823911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1628D2-995B-2B82-04DA-38989B8457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10B7114-88FC-E547-2302-D8485C34D3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517347D-0BB8-F63F-ED5F-1AFD867DAD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3697C2-1C5E-C5B4-5B8D-488536C910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14D4FE-CCC7-4462-A92E-A1701B15709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995260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999C0D0-6886-550E-4EA3-88538F8CC0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8CD38D4-9F95-35BD-24A8-C02CD923F9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A22853-9FB9-30B9-87F1-A0B7B59D4F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2A7ADFA-62BB-4EC7-A178-1E077B23EB5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7993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6B536E-A33B-7BBD-6ACC-0EA4837075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DF975E-9784-776A-A90B-4D056310E5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757FDF-C3C0-4115-2576-67B2B81AFC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501A0E-1018-7019-F2FA-ABAC09D1A6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4DB112-2CDD-60FE-7A85-7AB4CD4D36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FD7E0F-025D-5F71-BA2D-CB253DD9D4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5ACA6A5-837B-4227-BCBF-BCBE24F7D55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606418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BCD9B0-EC1E-9525-062F-D0D835E209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3D2B5FD-AAF1-F6ED-76DF-F9B748C4528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A46056-DBE2-98AA-DD62-567E2FE872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4F5B30-854A-3E6F-43DC-0C7C23D3DD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163C43-6451-0288-9FBB-D2E76AE1B0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4EC546-0070-0A64-3A2D-116B308B29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4BB42F1-532A-443F-B94D-89F4635B858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81363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4E6F16-8732-BF8B-C471-4CECF460EB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F413754-8C81-B66D-F2BB-0D94685FA1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73BDB9-37B1-779C-437A-75DD24E877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7B80B9-7645-8F3E-ABBE-64812ACFB1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571283-102E-48D3-496D-0F9332DAD3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6A5CF39-6AFA-4F2B-9AC4-6BE08DC67FF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573952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6F08776-8271-29DA-3986-C5686E2D7BD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359CBB5-C4E2-7C87-4F91-B4EF12EF4F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E62990-8711-C40D-B1ED-169ADB0D2B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D8BA47-1A0E-C0A6-15B7-4AF8713313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467594-00D7-2CD1-3D75-76154221F1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49A605C-584D-4C66-A033-7E6A67A2F37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457746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F90671-01D2-1D68-7D4F-665DA0F2D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04ABCE-2DF9-1CBA-6AAA-AC0865475F4C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275F0F-EBD5-979A-EDA5-4AD0AA068406}"/>
              </a:ext>
            </a:extLst>
          </p:cNvPr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297FF4E-E2D4-694F-67DC-8DC2D7F49922}"/>
              </a:ext>
            </a:extLst>
          </p:cNvPr>
          <p:cNvSpPr>
            <a:spLocks noGrp="1"/>
          </p:cNvSpPr>
          <p:nvPr>
            <p:ph sz="quarter" idx="3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4CBA282-FDFF-B749-9C3F-9E48ED9EB15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2F66CD9-D2D4-A146-6E9F-E5AE6DA4B0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82E9C1C-1DF6-35EC-233F-55A473EBBC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39DFC04B-521E-4592-8FB7-E2A28819D1F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782949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C126E7C3-0EE7-F940-9F53-3B1E081EE74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26C9EC8A-9E9B-37E0-EF8D-2C6ECDECB50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44023267-8C2F-0B94-92B1-48E6EFCA8EC2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972BBF18-A4D5-6EAD-860F-80FCA365795C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E1F9F4DF-745F-6721-58C2-6C27A4D2372A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5A8F0CE4-C6B2-441C-B40B-3E0659002189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oleObject" Target="../embeddings/oleObject5.bin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942869F3-8333-A0EB-2F54-EDCAD04E68B6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en-US" altLang="en-US" sz="4400"/>
              <a:t>Examples of Descriptive Statistics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C2F8E298-8D9B-F500-128C-863DE07F1A2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Roger Ebert Movie Ratings</a:t>
            </a:r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59F564C2-A584-888B-805E-55548F493816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600200"/>
            <a:ext cx="8077200" cy="1143000"/>
          </a:xfrm>
        </p:spPr>
        <p:txBody>
          <a:bodyPr/>
          <a:lstStyle/>
          <a:p>
            <a:r>
              <a:rPr lang="en-US" altLang="en-US" sz="2800"/>
              <a:t>Rating Scale (Ordinal): 0*, 0.5*,…,3.5*,4*</a:t>
            </a:r>
          </a:p>
          <a:p>
            <a:r>
              <a:rPr lang="en-US" altLang="en-US" sz="2800"/>
              <a:t>5501 Films (rogerebert.com, circa 3/2006)</a:t>
            </a:r>
          </a:p>
        </p:txBody>
      </p:sp>
      <p:graphicFrame>
        <p:nvGraphicFramePr>
          <p:cNvPr id="3284" name="Group 212">
            <a:extLst>
              <a:ext uri="{FF2B5EF4-FFF2-40B4-BE49-F238E27FC236}">
                <a16:creationId xmlns:a16="http://schemas.microsoft.com/office/drawing/2014/main" id="{7AE60F18-A6E7-BAEC-B437-2DD4204CF07A}"/>
              </a:ext>
            </a:extLst>
          </p:cNvPr>
          <p:cNvGraphicFramePr>
            <a:graphicFrameLocks noGrp="1"/>
          </p:cNvGraphicFramePr>
          <p:nvPr>
            <p:ph sz="quarter" idx="2"/>
            <p:extLst>
              <p:ext uri="{D42A27DB-BD31-4B8C-83A1-F6EECF244321}">
                <p14:modId xmlns:p14="http://schemas.microsoft.com/office/powerpoint/2010/main" val="4079796264"/>
              </p:ext>
            </p:extLst>
          </p:nvPr>
        </p:nvGraphicFramePr>
        <p:xfrm>
          <a:off x="533400" y="3200400"/>
          <a:ext cx="4038600" cy="3048004"/>
        </p:xfrm>
        <a:graphic>
          <a:graphicData uri="http://schemas.openxmlformats.org/drawingml/2006/table">
            <a:tbl>
              <a:tblPr firstRow="1"/>
              <a:tblGrid>
                <a:gridCol w="739775">
                  <a:extLst>
                    <a:ext uri="{9D8B030D-6E8A-4147-A177-3AD203B41FA5}">
                      <a16:colId xmlns:a16="http://schemas.microsoft.com/office/drawing/2014/main" val="1653984319"/>
                    </a:ext>
                  </a:extLst>
                </a:gridCol>
                <a:gridCol w="879475">
                  <a:extLst>
                    <a:ext uri="{9D8B030D-6E8A-4147-A177-3AD203B41FA5}">
                      <a16:colId xmlns:a16="http://schemas.microsoft.com/office/drawing/2014/main" val="2508540378"/>
                    </a:ext>
                  </a:extLst>
                </a:gridCol>
                <a:gridCol w="1139825">
                  <a:extLst>
                    <a:ext uri="{9D8B030D-6E8A-4147-A177-3AD203B41FA5}">
                      <a16:colId xmlns:a16="http://schemas.microsoft.com/office/drawing/2014/main" val="887428691"/>
                    </a:ext>
                  </a:extLst>
                </a:gridCol>
                <a:gridCol w="1279525">
                  <a:extLst>
                    <a:ext uri="{9D8B030D-6E8A-4147-A177-3AD203B41FA5}">
                      <a16:colId xmlns:a16="http://schemas.microsoft.com/office/drawing/2014/main" val="2646829539"/>
                    </a:ext>
                  </a:extLst>
                </a:gridCol>
              </a:tblGrid>
              <a:tr h="403225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Rating</a:t>
                      </a: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99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Frequency</a:t>
                      </a: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Relative Freq </a:t>
                      </a: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Cumulative Freq</a:t>
                      </a: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000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9406341"/>
                  </a:ext>
                </a:extLst>
              </a:tr>
              <a:tr h="293688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</a:t>
                      </a: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99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56</a:t>
                      </a: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1.02%</a:t>
                      </a: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1.02%</a:t>
                      </a: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000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6905703"/>
                  </a:ext>
                </a:extLst>
              </a:tr>
              <a:tr h="293688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0.5</a:t>
                      </a: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99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76</a:t>
                      </a: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1.39%</a:t>
                      </a: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2.41%</a:t>
                      </a: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000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398789"/>
                  </a:ext>
                </a:extLst>
              </a:tr>
              <a:tr h="293688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1.0</a:t>
                      </a: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99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284</a:t>
                      </a: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5.18%</a:t>
                      </a: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7.58%</a:t>
                      </a: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000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9240896"/>
                  </a:ext>
                </a:extLst>
              </a:tr>
              <a:tr h="293688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1.5</a:t>
                      </a: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99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309</a:t>
                      </a: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5.63%</a:t>
                      </a: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13.22%</a:t>
                      </a: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000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6299071"/>
                  </a:ext>
                </a:extLst>
              </a:tr>
              <a:tr h="295275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2.0</a:t>
                      </a: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99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907</a:t>
                      </a: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16.53%</a:t>
                      </a: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29.75%</a:t>
                      </a: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000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9159938"/>
                  </a:ext>
                </a:extLst>
              </a:tr>
              <a:tr h="293688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2.5</a:t>
                      </a: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99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568</a:t>
                      </a: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10.35%</a:t>
                      </a: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40.10%</a:t>
                      </a: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000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7170669"/>
                  </a:ext>
                </a:extLst>
              </a:tr>
              <a:tr h="293688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3.0</a:t>
                      </a: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99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1684</a:t>
                      </a: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30.70%</a:t>
                      </a: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70.80%</a:t>
                      </a: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000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8831546"/>
                  </a:ext>
                </a:extLst>
              </a:tr>
              <a:tr h="293688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3.5</a:t>
                      </a: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99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840</a:t>
                      </a: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15.31%</a:t>
                      </a: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86.11%</a:t>
                      </a: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000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162841"/>
                  </a:ext>
                </a:extLst>
              </a:tr>
              <a:tr h="293688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4.0</a:t>
                      </a: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99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762</a:t>
                      </a: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13.89%</a:t>
                      </a: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100.00%</a:t>
                      </a:r>
                      <a:endParaRPr kumimoji="0" lang="en-US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000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4927931"/>
                  </a:ext>
                </a:extLst>
              </a:tr>
            </a:tbl>
          </a:graphicData>
        </a:graphic>
      </p:graphicFrame>
      <p:graphicFrame>
        <p:nvGraphicFramePr>
          <p:cNvPr id="3282" name="Object 210" descr="Histogram/Bar Chart">
            <a:extLst>
              <a:ext uri="{FF2B5EF4-FFF2-40B4-BE49-F238E27FC236}">
                <a16:creationId xmlns:a16="http://schemas.microsoft.com/office/drawing/2014/main" id="{DC2F0399-EB0A-F8E1-B21A-BF677D48896C}"/>
              </a:ext>
            </a:extLst>
          </p:cNvPr>
          <p:cNvGraphicFramePr>
            <a:graphicFrameLocks noChangeAspect="1"/>
          </p:cNvGraphicFramePr>
          <p:nvPr>
            <p:ph sz="quarter" idx="3"/>
            <p:extLst>
              <p:ext uri="{D42A27DB-BD31-4B8C-83A1-F6EECF244321}">
                <p14:modId xmlns:p14="http://schemas.microsoft.com/office/powerpoint/2010/main" val="2512468465"/>
              </p:ext>
            </p:extLst>
          </p:nvPr>
        </p:nvGraphicFramePr>
        <p:xfrm>
          <a:off x="4800600" y="3159125"/>
          <a:ext cx="4114800" cy="3067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art" r:id="rId2" imgW="12420600" imgH="9258300" progId="Excel.Chart.8">
                  <p:embed/>
                </p:oleObj>
              </mc:Choice>
              <mc:Fallback>
                <p:oleObj name="Chart" r:id="rId2" imgW="12420600" imgH="9258300" progId="Excel.Chart.8">
                  <p:embed/>
                  <p:pic>
                    <p:nvPicPr>
                      <p:cNvPr id="0" name="Object 2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00600" y="3159125"/>
                        <a:ext cx="4114800" cy="3067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85" name="Text Box 213">
            <a:extLst>
              <a:ext uri="{FF2B5EF4-FFF2-40B4-BE49-F238E27FC236}">
                <a16:creationId xmlns:a16="http://schemas.microsoft.com/office/drawing/2014/main" id="{81D9DCDD-07D2-3E84-C999-633F2A0553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6324600"/>
            <a:ext cx="82296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/>
              <a:t>Note: Median (and Modal) Category is 3.0, LQ is 2.0, UQ is 3.5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33AA582A-4E07-3A23-3F3F-499D8372FF4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52401"/>
            <a:ext cx="8229600" cy="609600"/>
          </a:xfrm>
        </p:spPr>
        <p:txBody>
          <a:bodyPr/>
          <a:lstStyle/>
          <a:p>
            <a:r>
              <a:rPr lang="en-US" altLang="en-US" sz="3200" dirty="0"/>
              <a:t>Profit Margins of Businesses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3DB8956B-FF2D-26AB-A92B-F53C9C6618C5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990600"/>
            <a:ext cx="8305800" cy="1066800"/>
          </a:xfrm>
        </p:spPr>
        <p:txBody>
          <a:bodyPr/>
          <a:lstStyle/>
          <a:p>
            <a:r>
              <a:rPr lang="en-US" altLang="en-US" sz="2800"/>
              <a:t>Net Profits/Losses (%) for department Stores</a:t>
            </a:r>
          </a:p>
          <a:p>
            <a:r>
              <a:rPr lang="en-US" altLang="en-US" sz="2800"/>
              <a:t>351 Firms (1925): Source: Harvard BBR</a:t>
            </a:r>
          </a:p>
        </p:txBody>
      </p:sp>
      <p:graphicFrame>
        <p:nvGraphicFramePr>
          <p:cNvPr id="6358" name="Group 214">
            <a:extLst>
              <a:ext uri="{FF2B5EF4-FFF2-40B4-BE49-F238E27FC236}">
                <a16:creationId xmlns:a16="http://schemas.microsoft.com/office/drawing/2014/main" id="{CD373A4F-6D7B-2230-5DBE-012B5049B65E}"/>
              </a:ext>
            </a:extLst>
          </p:cNvPr>
          <p:cNvGraphicFramePr>
            <a:graphicFrameLocks noGrp="1"/>
          </p:cNvGraphicFramePr>
          <p:nvPr>
            <p:ph sz="quarter" idx="3"/>
            <p:extLst>
              <p:ext uri="{D42A27DB-BD31-4B8C-83A1-F6EECF244321}">
                <p14:modId xmlns:p14="http://schemas.microsoft.com/office/powerpoint/2010/main" val="765934776"/>
              </p:ext>
            </p:extLst>
          </p:nvPr>
        </p:nvGraphicFramePr>
        <p:xfrm>
          <a:off x="304800" y="2286000"/>
          <a:ext cx="4038600" cy="4511040"/>
        </p:xfrm>
        <a:graphic>
          <a:graphicData uri="http://schemas.openxmlformats.org/drawingml/2006/table">
            <a:tbl>
              <a:tblPr firstRow="1"/>
              <a:tblGrid>
                <a:gridCol w="2527300">
                  <a:extLst>
                    <a:ext uri="{9D8B030D-6E8A-4147-A177-3AD203B41FA5}">
                      <a16:colId xmlns:a16="http://schemas.microsoft.com/office/drawing/2014/main" val="4037373827"/>
                    </a:ext>
                  </a:extLst>
                </a:gridCol>
                <a:gridCol w="1511300">
                  <a:extLst>
                    <a:ext uri="{9D8B030D-6E8A-4147-A177-3AD203B41FA5}">
                      <a16:colId xmlns:a16="http://schemas.microsoft.com/office/drawing/2014/main" val="301890535"/>
                    </a:ext>
                  </a:extLst>
                </a:gridCol>
              </a:tblGrid>
              <a:tr h="128588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Statistic</a:t>
                      </a: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CC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Value</a:t>
                      </a: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3340717"/>
                  </a:ext>
                </a:extLst>
              </a:tr>
              <a:tr h="128588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Mean</a:t>
                      </a: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CCFF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0.277407</a:t>
                      </a: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2057030"/>
                  </a:ext>
                </a:extLst>
              </a:tr>
              <a:tr h="128588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SD</a:t>
                      </a: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CCFF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3.846284</a:t>
                      </a: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7428380"/>
                  </a:ext>
                </a:extLst>
              </a:tr>
              <a:tr h="128588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IQR</a:t>
                      </a: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CCFF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5.065</a:t>
                      </a: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5166621"/>
                  </a:ext>
                </a:extLst>
              </a:tr>
              <a:tr h="128588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Percentile</a:t>
                      </a: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CCFF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6847015"/>
                  </a:ext>
                </a:extLst>
              </a:tr>
              <a:tr h="128588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CCFF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-4.69</a:t>
                      </a: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1267834"/>
                  </a:ext>
                </a:extLst>
              </a:tr>
              <a:tr h="128588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25</a:t>
                      </a: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CCFF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-2.125</a:t>
                      </a: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4273366"/>
                  </a:ext>
                </a:extLst>
              </a:tr>
              <a:tr h="128588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50</a:t>
                      </a: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CCFF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0.36</a:t>
                      </a: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0426286"/>
                  </a:ext>
                </a:extLst>
              </a:tr>
              <a:tr h="128588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75</a:t>
                      </a: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CCFF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2.94</a:t>
                      </a: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563004"/>
                  </a:ext>
                </a:extLst>
              </a:tr>
              <a:tr h="130175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90</a:t>
                      </a: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CCFF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1057734"/>
                  </a:ext>
                </a:extLst>
              </a:tr>
              <a:tr h="128588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CCFF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9858189"/>
                  </a:ext>
                </a:extLst>
              </a:tr>
              <a:tr h="128588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%&lt;mean-2s</a:t>
                      </a: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CCFF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2.849003</a:t>
                      </a: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0909431"/>
                  </a:ext>
                </a:extLst>
              </a:tr>
              <a:tr h="128588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% in (m-2s,m-s)</a:t>
                      </a: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CCFF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13.10541</a:t>
                      </a: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2810558"/>
                  </a:ext>
                </a:extLst>
              </a:tr>
              <a:tr h="128588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% in (m-s,m)</a:t>
                      </a: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CCFF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31.90883</a:t>
                      </a: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0093545"/>
                  </a:ext>
                </a:extLst>
              </a:tr>
              <a:tr h="128588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% in (m,m+s)</a:t>
                      </a: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CCFF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37.32194</a:t>
                      </a: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2673257"/>
                  </a:ext>
                </a:extLst>
              </a:tr>
              <a:tr h="128588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% in (m+s,m+2s)</a:t>
                      </a: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CCFF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13.39031</a:t>
                      </a: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0218583"/>
                  </a:ext>
                </a:extLst>
              </a:tr>
              <a:tr h="128588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%&gt;mean+2s</a:t>
                      </a: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CCFF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1.424501</a:t>
                      </a: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4353735"/>
                  </a:ext>
                </a:extLst>
              </a:tr>
              <a:tr h="128588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Total %</a:t>
                      </a: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CCFF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100</a:t>
                      </a:r>
                      <a:endParaRPr kumimoji="0" lang="en-US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6600906"/>
                  </a:ext>
                </a:extLst>
              </a:tr>
            </a:tbl>
          </a:graphicData>
        </a:graphic>
      </p:graphicFrame>
      <p:graphicFrame>
        <p:nvGraphicFramePr>
          <p:cNvPr id="6148" name="Object 4" descr="Histogram of Earnings">
            <a:extLst>
              <a:ext uri="{FF2B5EF4-FFF2-40B4-BE49-F238E27FC236}">
                <a16:creationId xmlns:a16="http://schemas.microsoft.com/office/drawing/2014/main" id="{80435CD9-59BF-3A64-EDEE-B4A06C43380D}"/>
              </a:ext>
            </a:extLst>
          </p:cNvPr>
          <p:cNvGraphicFramePr>
            <a:graphicFrameLocks noChangeAspect="1"/>
          </p:cNvGraphicFramePr>
          <p:nvPr>
            <p:ph sz="quarter" idx="2"/>
            <p:extLst>
              <p:ext uri="{D42A27DB-BD31-4B8C-83A1-F6EECF244321}">
                <p14:modId xmlns:p14="http://schemas.microsoft.com/office/powerpoint/2010/main" val="2595265585"/>
              </p:ext>
            </p:extLst>
          </p:nvPr>
        </p:nvGraphicFramePr>
        <p:xfrm>
          <a:off x="4953000" y="2743200"/>
          <a:ext cx="3886200" cy="3051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art" r:id="rId2" imgW="11791950" imgH="9258300" progId="Excel.Chart.8">
                  <p:embed/>
                </p:oleObj>
              </mc:Choice>
              <mc:Fallback>
                <p:oleObj name="Chart" r:id="rId2" imgW="11791950" imgH="9258300" progId="Excel.Chart.8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3000" y="2743200"/>
                        <a:ext cx="3886200" cy="3051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4F299E5-B62B-0C92-C67B-FEFB3AC606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87362"/>
          </a:xfrm>
        </p:spPr>
        <p:txBody>
          <a:bodyPr/>
          <a:lstStyle/>
          <a:p>
            <a:r>
              <a:rPr lang="en-US" sz="3200" dirty="0"/>
              <a:t>Histogram of Monthly Rainfall</a:t>
            </a:r>
          </a:p>
        </p:txBody>
      </p:sp>
      <p:graphicFrame>
        <p:nvGraphicFramePr>
          <p:cNvPr id="9218" name="Object 2" descr="Histogram of monthly rainfall">
            <a:extLst>
              <a:ext uri="{FF2B5EF4-FFF2-40B4-BE49-F238E27FC236}">
                <a16:creationId xmlns:a16="http://schemas.microsoft.com/office/drawing/2014/main" id="{CBD265D2-699F-A263-F290-3E5398BB24B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36213935"/>
              </p:ext>
            </p:extLst>
          </p:nvPr>
        </p:nvGraphicFramePr>
        <p:xfrm>
          <a:off x="838200" y="838200"/>
          <a:ext cx="7242175" cy="59138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5791200" imgH="4581525" progId="Excel.Sheet.8">
                  <p:embed/>
                </p:oleObj>
              </mc:Choice>
              <mc:Fallback>
                <p:oleObj name="Worksheet" r:id="rId2" imgW="5791200" imgH="4581525" progId="Excel.Sheet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838200"/>
                        <a:ext cx="7242175" cy="5913815"/>
                      </a:xfrm>
                      <a:prstGeom prst="rect">
                        <a:avLst/>
                      </a:prstGeom>
                      <a:solidFill>
                        <a:srgbClr val="000080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2114C14D-FF07-01B6-EF9A-C0399ADE897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7772400" cy="685800"/>
          </a:xfrm>
        </p:spPr>
        <p:txBody>
          <a:bodyPr/>
          <a:lstStyle/>
          <a:p>
            <a:r>
              <a:rPr lang="en-US" altLang="en-US" sz="3600"/>
              <a:t>Example - Philadelphia Rainfall </a:t>
            </a:r>
          </a:p>
        </p:txBody>
      </p:sp>
      <p:graphicFrame>
        <p:nvGraphicFramePr>
          <p:cNvPr id="12291" name="Object 3" descr="Population mean and median for rainfall">
            <a:extLst>
              <a:ext uri="{FF2B5EF4-FFF2-40B4-BE49-F238E27FC236}">
                <a16:creationId xmlns:a16="http://schemas.microsoft.com/office/drawing/2014/main" id="{65049866-5749-DEAE-ACD6-7AABAE457BF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11172464"/>
              </p:ext>
            </p:extLst>
          </p:nvPr>
        </p:nvGraphicFramePr>
        <p:xfrm>
          <a:off x="685800" y="1219200"/>
          <a:ext cx="7620000" cy="1931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555720" imgH="901440" progId="Equation.3">
                  <p:embed/>
                </p:oleObj>
              </mc:Choice>
              <mc:Fallback>
                <p:oleObj name="Equation" r:id="rId2" imgW="3555720" imgH="90144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1219200"/>
                        <a:ext cx="7620000" cy="1931988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292" name="Text Box 4">
            <a:extLst>
              <a:ext uri="{FF2B5EF4-FFF2-40B4-BE49-F238E27FC236}">
                <a16:creationId xmlns:a16="http://schemas.microsoft.com/office/drawing/2014/main" id="{9D51C953-8443-2508-A676-5515071E7C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3733800"/>
            <a:ext cx="8077200" cy="822325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en-US" sz="2400" b="1">
                <a:solidFill>
                  <a:schemeClr val="bg1"/>
                </a:solidFill>
                <a:latin typeface="Times New Roman" panose="02020603050405020304" pitchFamily="18" charset="0"/>
              </a:rPr>
              <a:t>Note: The mean is higher than median as a few very large amounts were observed.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AE100936-A136-77DD-0BBE-26EA23CCEFD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400" y="304800"/>
            <a:ext cx="8763000" cy="609600"/>
          </a:xfrm>
        </p:spPr>
        <p:txBody>
          <a:bodyPr/>
          <a:lstStyle/>
          <a:p>
            <a:r>
              <a:rPr lang="en-US" altLang="en-US" sz="3200" dirty="0"/>
              <a:t>Example - Philadelphia Rainfall (Population)</a:t>
            </a:r>
          </a:p>
        </p:txBody>
      </p:sp>
      <p:graphicFrame>
        <p:nvGraphicFramePr>
          <p:cNvPr id="16387" name="Object 3" descr="Lower and Upper quantiles, IQR, variance, standard deviation, fractions lying within +/- 1 and 2 SDs of mean">
            <a:extLst>
              <a:ext uri="{FF2B5EF4-FFF2-40B4-BE49-F238E27FC236}">
                <a16:creationId xmlns:a16="http://schemas.microsoft.com/office/drawing/2014/main" id="{1CBCFC26-77EB-9BE7-6759-7752642F931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04300332"/>
              </p:ext>
            </p:extLst>
          </p:nvPr>
        </p:nvGraphicFramePr>
        <p:xfrm>
          <a:off x="1143000" y="1066800"/>
          <a:ext cx="6858000" cy="4973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187440" imgH="2311200" progId="Equation.3">
                  <p:embed/>
                </p:oleObj>
              </mc:Choice>
              <mc:Fallback>
                <p:oleObj name="Equation" r:id="rId2" imgW="3187440" imgH="23112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1066800"/>
                        <a:ext cx="6858000" cy="4973638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88" name="Text Box 4">
            <a:extLst>
              <a:ext uri="{FF2B5EF4-FFF2-40B4-BE49-F238E27FC236}">
                <a16:creationId xmlns:a16="http://schemas.microsoft.com/office/drawing/2014/main" id="{A257A4B5-F4EC-6041-7BE2-9D52586F71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096000"/>
            <a:ext cx="9144000" cy="4572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en-US" sz="2400">
                <a:solidFill>
                  <a:schemeClr val="bg1"/>
                </a:solidFill>
                <a:latin typeface="Times New Roman" panose="02020603050405020304" pitchFamily="18" charset="0"/>
              </a:rPr>
              <a:t>Note: 383 (71%)  Months lie within 1</a:t>
            </a:r>
            <a:r>
              <a:rPr lang="en-US" altLang="en-US" sz="2400">
                <a:solidFill>
                  <a:schemeClr val="bg1"/>
                </a:solidFill>
                <a:latin typeface="Symbol" panose="05050102010706020507" pitchFamily="18" charset="2"/>
              </a:rPr>
              <a:t>s</a:t>
            </a:r>
            <a:r>
              <a:rPr lang="en-US" altLang="en-US" sz="2400">
                <a:solidFill>
                  <a:schemeClr val="bg1"/>
                </a:solidFill>
                <a:latin typeface="Times New Roman" panose="02020603050405020304" pitchFamily="18" charset="0"/>
              </a:rPr>
              <a:t> of </a:t>
            </a:r>
            <a:r>
              <a:rPr lang="en-US" altLang="en-US" sz="2400">
                <a:solidFill>
                  <a:schemeClr val="bg1"/>
                </a:solidFill>
                <a:latin typeface="Symbol" panose="05050102010706020507" pitchFamily="18" charset="2"/>
              </a:rPr>
              <a:t>m </a:t>
            </a:r>
            <a:r>
              <a:rPr lang="en-US" altLang="en-US" sz="2400">
                <a:solidFill>
                  <a:schemeClr val="bg1"/>
                </a:solidFill>
                <a:latin typeface="Times New Roman" panose="02020603050405020304" pitchFamily="18" charset="0"/>
              </a:rPr>
              <a:t> and 518 (96%) within 2</a:t>
            </a:r>
            <a:r>
              <a:rPr lang="en-US" altLang="en-US" sz="2400">
                <a:solidFill>
                  <a:schemeClr val="bg1"/>
                </a:solidFill>
                <a:latin typeface="Symbol" panose="05050102010706020507" pitchFamily="18" charset="2"/>
              </a:rPr>
              <a:t>s</a:t>
            </a:r>
            <a:endParaRPr lang="en-US" altLang="en-US" sz="240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254</Words>
  <Application>Microsoft Office PowerPoint</Application>
  <PresentationFormat>On-screen Show (4:3)</PresentationFormat>
  <Paragraphs>89</Paragraphs>
  <Slides>6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3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Arial</vt:lpstr>
      <vt:lpstr>Times New Roman</vt:lpstr>
      <vt:lpstr>Symbol</vt:lpstr>
      <vt:lpstr>Default Design</vt:lpstr>
      <vt:lpstr>Microsoft Office Excel Chart</vt:lpstr>
      <vt:lpstr>Microsoft Office Excel Worksheet</vt:lpstr>
      <vt:lpstr>Microsoft Equation 3.0</vt:lpstr>
      <vt:lpstr>Examples of Descriptive Statistics </vt:lpstr>
      <vt:lpstr>Roger Ebert Movie Ratings</vt:lpstr>
      <vt:lpstr>Profit Margins of Businesses</vt:lpstr>
      <vt:lpstr>Histogram of Monthly Rainfall</vt:lpstr>
      <vt:lpstr>Example - Philadelphia Rainfall </vt:lpstr>
      <vt:lpstr>Example - Philadelphia Rainfall (Population)</vt:lpstr>
    </vt:vector>
  </TitlesOfParts>
  <Company>University of Florida, Department of Statistics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Examples of Descriptive Statistics</dc:title>
  <dc:creator>winner</dc:creator>
  <cp:lastModifiedBy>Winner,Lawrence Herman</cp:lastModifiedBy>
  <cp:revision>9</cp:revision>
  <dcterms:created xsi:type="dcterms:W3CDTF">2007-01-19T12:36:06Z</dcterms:created>
  <dcterms:modified xsi:type="dcterms:W3CDTF">2025-12-16T14:01:43Z</dcterms:modified>
</cp:coreProperties>
</file>